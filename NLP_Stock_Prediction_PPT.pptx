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News to Numbers: NLP-Driven Stock Return Predictions</a:t>
            </a:r>
          </a:p>
          <a:p>
            <a:pPr lvl="1"/>
            <a:r>
              <a:t>Using Transformers, RAP, and Financial Context</a:t>
            </a:r>
          </a:p>
          <a:p>
            <a:pPr lvl="1"/>
            <a:r>
              <a:t>Team: Semantics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Markets react within minutes to news</a:t>
            </a:r>
          </a:p>
          <a:p>
            <a:pPr lvl="1"/>
            <a:r>
              <a:t>• Raw minute returns are noisy &amp; volatile</a:t>
            </a:r>
          </a:p>
          <a:p>
            <a:pPr lvl="1"/>
            <a:r>
              <a:t>• NLP alone fails—no market context or history</a:t>
            </a:r>
          </a:p>
          <a:p>
            <a:pPr lvl="1"/>
            <a:r>
              <a:t>• Goal: Predict 10-minute volatility-normalized Jensen’s alpha (α̂)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Can NLP + financial features + retrieval predict short‑term market reactions without look‑ahead bias?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Volatility-Normalized Jensen’s Alpha (α̂)</a:t>
            </a:r>
          </a:p>
          <a:p>
            <a:pPr lvl="1"/>
            <a:r>
              <a:t>• Removes market effect (CAPM residual)</a:t>
            </a:r>
          </a:p>
          <a:p>
            <a:pPr lvl="1"/>
            <a:r>
              <a:t>• Normalized with GARCH volatility</a:t>
            </a:r>
          </a:p>
          <a:p>
            <a:pPr lvl="1"/>
            <a:r>
              <a:t>• Stationary and suitable for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News: 70k+ headlines (2010–2020)</a:t>
            </a:r>
          </a:p>
          <a:p>
            <a:pPr lvl="1"/>
            <a:r>
              <a:t>Market: TAQ minute data, CAPM β, GARCH vol</a:t>
            </a:r>
          </a:p>
          <a:p>
            <a:pPr lvl="1"/>
            <a:r>
              <a:t>Split: strict chronological (no look-ahead)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1) NLP embeddings (FinBERT, DeBERTa)</a:t>
            </a:r>
          </a:p>
          <a:p>
            <a:pPr lvl="1"/>
            <a:r>
              <a:t>2) Financial state (returns, vol, volume)</a:t>
            </a:r>
          </a:p>
          <a:p>
            <a:pPr lvl="1"/>
            <a:r>
              <a:t>3) RAP retrieval features (similar past headlines)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RAP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Retrieval Augmented Prediction:</a:t>
            </a:r>
          </a:p>
          <a:p>
            <a:pPr lvl="1"/>
            <a:r>
              <a:t>• Retrieves top-K similar past headlines</a:t>
            </a:r>
          </a:p>
          <a:p>
            <a:pPr lvl="1"/>
            <a:r>
              <a:t>• Uses their real returns to enrich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Text Encoder</a:t>
            </a:r>
          </a:p>
          <a:p>
            <a:pPr lvl="1"/>
            <a:r>
              <a:t>• Financial + RAP feature aggregator</a:t>
            </a:r>
          </a:p>
          <a:p>
            <a:pPr lvl="1"/>
            <a:r>
              <a:t>• MLP/Ridge prediction 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Two-Tier Meta-Ensemble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Tier 1 → Predict vol/volume shifts (impact proxy)</a:t>
            </a:r>
          </a:p>
          <a:p>
            <a:pPr lvl="1"/>
            <a:r>
              <a:t>Tier 2 → Predict α̂ using Tier 1 + text + financial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—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Best One-Tier Model:</a:t>
            </a:r>
          </a:p>
          <a:p>
            <a:pPr lvl="1"/>
            <a:r>
              <a:t>MDA: 57.58%</a:t>
            </a:r>
          </a:p>
          <a:p>
            <a:pPr lvl="1"/>
            <a:r>
              <a:t>Sharpe: 0.170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— Meta 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Two-Tier:</a:t>
            </a:r>
          </a:p>
          <a:p>
            <a:pPr lvl="1"/>
            <a:r>
              <a:t>MDA: 60.29%</a:t>
            </a:r>
          </a:p>
          <a:p>
            <a:pPr lvl="1"/>
            <a:r>
              <a:t>Sharpe: 0.373</a:t>
            </a:r>
          </a:p>
          <a:p>
            <a:pPr lvl="1"/>
            <a:r>
              <a:t>High-confidence:</a:t>
            </a:r>
          </a:p>
          <a:p>
            <a:pPr lvl="1"/>
            <a:r>
              <a:t>MDA: 75.14%, Sharpe: 0.834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RAP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Directional accuracy improved (~53–54%)</a:t>
            </a:r>
          </a:p>
          <a:p>
            <a:pPr lvl="1"/>
            <a:r>
              <a:t>Works best on liquid tickers (JPM, KR, BLK)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Target distribution ~normal</a:t>
            </a:r>
          </a:p>
          <a:p>
            <a:pPr lvl="1"/>
            <a:r>
              <a:t>• Stable across years &amp; tickers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(Stanford Study)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Stanford Best MDA ~54%</a:t>
            </a:r>
          </a:p>
          <a:p>
            <a:pPr lvl="1"/>
            <a:r>
              <a:t>Our Ensemble MDA = 60%–75%</a:t>
            </a:r>
          </a:p>
          <a:p>
            <a:pPr lvl="1"/>
            <a:r>
              <a:t>Sharpe improved 5×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✔ Look-ahead–free pipeline</a:t>
            </a:r>
          </a:p>
          <a:p>
            <a:pPr lvl="1"/>
            <a:r>
              <a:t>✔ RAP retrieval mechanism</a:t>
            </a:r>
          </a:p>
          <a:p>
            <a:pPr lvl="1"/>
            <a:r>
              <a:t>✔ Two-tier learning</a:t>
            </a:r>
          </a:p>
          <a:p>
            <a:pPr lvl="1"/>
            <a:r>
              <a:t>✔ Strong financial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Retrieval + NLP + market context significantly improves short-term market impact prediction.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Retrieval optimization</a:t>
            </a:r>
          </a:p>
          <a:p>
            <a:pPr lvl="1"/>
            <a:r>
              <a:t>• Live trading deployment</a:t>
            </a:r>
          </a:p>
          <a:p>
            <a:pPr lvl="1"/>
            <a:r>
              <a:t>• Multimodal data</a:t>
            </a:r>
          </a:p>
          <a:p>
            <a:pPr lvl="1"/>
            <a:r>
              <a:t>• Explainability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